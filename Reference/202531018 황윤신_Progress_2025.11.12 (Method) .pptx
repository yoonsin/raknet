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6" r:id="rId1"/>
  </p:sldMasterIdLst>
  <p:notesMasterIdLst>
    <p:notesMasterId r:id="rId15"/>
  </p:notesMasterIdLst>
  <p:handoutMasterIdLst>
    <p:handoutMasterId r:id="rId16"/>
  </p:handoutMasterIdLst>
  <p:sldIdLst>
    <p:sldId id="322" r:id="rId2"/>
    <p:sldId id="580" r:id="rId3"/>
    <p:sldId id="593" r:id="rId4"/>
    <p:sldId id="595" r:id="rId5"/>
    <p:sldId id="599" r:id="rId6"/>
    <p:sldId id="596" r:id="rId7"/>
    <p:sldId id="601" r:id="rId8"/>
    <p:sldId id="602" r:id="rId9"/>
    <p:sldId id="603" r:id="rId10"/>
    <p:sldId id="604" r:id="rId11"/>
    <p:sldId id="597" r:id="rId12"/>
    <p:sldId id="600" r:id="rId13"/>
    <p:sldId id="598" r:id="rId14"/>
  </p:sldIdLst>
  <p:sldSz cx="12192000" cy="6858000"/>
  <p:notesSz cx="6858000" cy="9144000"/>
  <p:embeddedFontLst>
    <p:embeddedFont>
      <p:font typeface="나눔고딕" panose="020D0604000000000000" pitchFamily="50" charset="-127"/>
      <p:regular r:id="rId17"/>
      <p:bold r:id="rId18"/>
    </p:embeddedFont>
    <p:embeddedFont>
      <p:font typeface="나눔고딕 ExtraBold" panose="020D0904000000000000" pitchFamily="50" charset="-127"/>
      <p:bold r:id="rId19"/>
    </p:embeddedFont>
    <p:embeddedFont>
      <p:font typeface="나눔스퀘어" panose="020B0600000101010101" pitchFamily="50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333C406-2A60-4A4E-8398-BD93CEC21F5F}">
          <p14:sldIdLst>
            <p14:sldId id="322"/>
          </p14:sldIdLst>
        </p14:section>
        <p14:section name="제목 없는 구역" id="{B72AD66E-3D44-4174-BE0C-4F6A4840FB86}">
          <p14:sldIdLst>
            <p14:sldId id="580"/>
            <p14:sldId id="593"/>
            <p14:sldId id="595"/>
            <p14:sldId id="599"/>
            <p14:sldId id="596"/>
            <p14:sldId id="601"/>
            <p14:sldId id="602"/>
            <p14:sldId id="603"/>
            <p14:sldId id="604"/>
            <p14:sldId id="597"/>
            <p14:sldId id="600"/>
            <p14:sldId id="5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8CBAD"/>
    <a:srgbClr val="000000"/>
    <a:srgbClr val="A5A5A5"/>
    <a:srgbClr val="E4E4E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66303" autoAdjust="0"/>
  </p:normalViewPr>
  <p:slideViewPr>
    <p:cSldViewPr snapToGrid="0">
      <p:cViewPr varScale="1">
        <p:scale>
          <a:sx n="73" d="100"/>
          <a:sy n="73" d="100"/>
        </p:scale>
        <p:origin x="2040" y="60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CED5933C-6F9E-44BB-B012-3E8C8ED91F17}" type="datetime1">
              <a:rPr lang="ko-KR" altLang="en-US"/>
              <a:pPr lvl="0">
                <a:defRPr/>
              </a:pPr>
              <a:t>2026-01-15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0A453B8-45BE-4B0F-9DDA-C7D091EA124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5D4372C-B805-4CBD-A927-0367B0B29C84}" type="datetime1">
              <a:rPr lang="ko-KR" altLang="en-US"/>
              <a:pPr lvl="0">
                <a:defRPr/>
              </a:pPr>
              <a:t>2026-01-15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5F58F7E-47D6-4BB7-8A09-EC68B3D7F32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Delay_f</a:t>
            </a:r>
            <a:r>
              <a:rPr lang="en-US" altLang="ko-KR" dirty="0"/>
              <a:t> = </a:t>
            </a:r>
            <a:r>
              <a:rPr lang="ko-KR" altLang="en-US" dirty="0"/>
              <a:t>게임서버 </a:t>
            </a:r>
            <a:r>
              <a:rPr lang="en-US" altLang="ko-KR" dirty="0"/>
              <a:t>egress </a:t>
            </a:r>
            <a:r>
              <a:rPr lang="ko-KR" altLang="en-US" dirty="0"/>
              <a:t>흐름에서 해당 플로우 </a:t>
            </a:r>
            <a:r>
              <a:rPr lang="en-US" altLang="ko-KR" dirty="0"/>
              <a:t>f</a:t>
            </a:r>
            <a:r>
              <a:rPr lang="ko-KR" altLang="en-US" dirty="0"/>
              <a:t>에 대해 추가적으로 부여할 </a:t>
            </a:r>
            <a:r>
              <a:rPr lang="en-US" altLang="ko-KR" dirty="0"/>
              <a:t>RTT </a:t>
            </a:r>
          </a:p>
          <a:p>
            <a:r>
              <a:rPr lang="en-US" altLang="ko-KR" dirty="0" err="1"/>
              <a:t>RTT_f</a:t>
            </a:r>
            <a:r>
              <a:rPr lang="en-US" altLang="ko-KR" dirty="0"/>
              <a:t> = </a:t>
            </a:r>
            <a:r>
              <a:rPr lang="ko-KR" altLang="en-US" dirty="0"/>
              <a:t>해당 유저의 </a:t>
            </a:r>
            <a:r>
              <a:rPr lang="en-US" altLang="ko-KR" dirty="0"/>
              <a:t>RTT </a:t>
            </a:r>
            <a:r>
              <a:rPr lang="ko-KR" altLang="en-US" dirty="0"/>
              <a:t>평균</a:t>
            </a:r>
            <a:endParaRPr lang="en-US" altLang="ko-KR" dirty="0"/>
          </a:p>
          <a:p>
            <a:r>
              <a:rPr lang="en-US" altLang="ko-KR" dirty="0" err="1"/>
              <a:t>N_t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RTT </a:t>
            </a:r>
            <a:r>
              <a:rPr lang="ko-KR" altLang="en-US" dirty="0"/>
              <a:t>시간 측정한 간격 전체 수</a:t>
            </a:r>
            <a:endParaRPr lang="en-US" altLang="ko-KR" dirty="0"/>
          </a:p>
          <a:p>
            <a:r>
              <a:rPr lang="en-US" altLang="ko-KR" dirty="0" err="1"/>
              <a:t>N_f</a:t>
            </a:r>
            <a:r>
              <a:rPr lang="en-US" altLang="ko-KR" dirty="0"/>
              <a:t> = </a:t>
            </a:r>
            <a:r>
              <a:rPr lang="ko-KR" altLang="en-US" dirty="0"/>
              <a:t>게임 서버에 </a:t>
            </a:r>
            <a:r>
              <a:rPr lang="ko-KR" altLang="en-US" dirty="0" err="1"/>
              <a:t>접속해있는</a:t>
            </a:r>
            <a:r>
              <a:rPr lang="ko-KR" altLang="en-US" dirty="0"/>
              <a:t> 전체 플로우 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RTT_i,k</a:t>
            </a:r>
            <a:r>
              <a:rPr lang="en-US" altLang="ko-KR" dirty="0"/>
              <a:t>  = </a:t>
            </a:r>
            <a:r>
              <a:rPr lang="ko-KR" altLang="en-US" dirty="0"/>
              <a:t>간격 </a:t>
            </a:r>
            <a:r>
              <a:rPr lang="en-US" altLang="ko-KR" dirty="0" err="1"/>
              <a:t>i</a:t>
            </a:r>
            <a:r>
              <a:rPr lang="ko-KR" altLang="en-US" dirty="0"/>
              <a:t>에 측정한 플로우 </a:t>
            </a:r>
            <a:r>
              <a:rPr lang="en-US" altLang="ko-KR" dirty="0"/>
              <a:t>k</a:t>
            </a:r>
            <a:r>
              <a:rPr lang="ko-KR" altLang="en-US" dirty="0"/>
              <a:t>의 </a:t>
            </a:r>
            <a:r>
              <a:rPr lang="en-US" altLang="ko-KR" dirty="0"/>
              <a:t>RTT</a:t>
            </a:r>
          </a:p>
          <a:p>
            <a:r>
              <a:rPr lang="ko-KR" altLang="en-US" dirty="0"/>
              <a:t>시그마 </a:t>
            </a:r>
            <a:r>
              <a:rPr lang="en-US" altLang="ko-KR" dirty="0"/>
              <a:t>= </a:t>
            </a:r>
            <a:r>
              <a:rPr lang="ko-KR" altLang="en-US" dirty="0"/>
              <a:t>모든 측정한 </a:t>
            </a:r>
            <a:r>
              <a:rPr lang="en-US" altLang="ko-KR" dirty="0"/>
              <a:t>RTT</a:t>
            </a:r>
            <a:r>
              <a:rPr lang="ko-KR" altLang="en-US" dirty="0"/>
              <a:t>의 표준편차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N_CI = </a:t>
            </a:r>
            <a:r>
              <a:rPr lang="ko-KR" altLang="en-US" dirty="0"/>
              <a:t>현재 혼잡 </a:t>
            </a:r>
            <a:r>
              <a:rPr lang="en-US" altLang="ko-KR" dirty="0"/>
              <a:t>(</a:t>
            </a:r>
            <a:r>
              <a:rPr lang="ko-KR" altLang="en-US" dirty="0"/>
              <a:t>혼잡 인덱스가 </a:t>
            </a:r>
            <a:r>
              <a:rPr lang="en-US" altLang="ko-KR" dirty="0"/>
              <a:t>1 </a:t>
            </a:r>
            <a:r>
              <a:rPr lang="ko-KR" altLang="en-US" dirty="0"/>
              <a:t>초과</a:t>
            </a:r>
            <a:r>
              <a:rPr lang="en-US" altLang="ko-KR" dirty="0"/>
              <a:t>) </a:t>
            </a:r>
            <a:r>
              <a:rPr lang="ko-KR" altLang="en-US" dirty="0"/>
              <a:t>한 유저 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추가할 요소</a:t>
            </a:r>
            <a:endParaRPr lang="en-US" altLang="ko-KR" dirty="0"/>
          </a:p>
          <a:p>
            <a:r>
              <a:rPr lang="ko-KR" altLang="en-US" dirty="0"/>
              <a:t>플랫폼</a:t>
            </a:r>
            <a:r>
              <a:rPr lang="en-US" altLang="ko-KR" dirty="0"/>
              <a:t> </a:t>
            </a:r>
            <a:r>
              <a:rPr lang="ko-KR" altLang="en-US" dirty="0"/>
              <a:t>가중치</a:t>
            </a:r>
            <a:r>
              <a:rPr lang="en-US" altLang="ko-KR" dirty="0"/>
              <a:t>, FPS / RTT</a:t>
            </a:r>
            <a:r>
              <a:rPr lang="ko-KR" altLang="en-US" dirty="0"/>
              <a:t>를 서버와 나 관계가 아니라 모두의 관계로 생각하면 좋을지도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557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29F35-EF3C-7200-0DFD-1A78D345D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782E9A-7B48-D261-0898-FCC5EA21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9AA528-8F8D-7B3F-4105-1A51381BB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Delay_f</a:t>
            </a:r>
            <a:r>
              <a:rPr lang="en-US" altLang="ko-KR" dirty="0"/>
              <a:t> = </a:t>
            </a:r>
            <a:r>
              <a:rPr lang="ko-KR" altLang="en-US" dirty="0"/>
              <a:t>게임서버 </a:t>
            </a:r>
            <a:r>
              <a:rPr lang="en-US" altLang="ko-KR" dirty="0"/>
              <a:t>egress </a:t>
            </a:r>
            <a:r>
              <a:rPr lang="ko-KR" altLang="en-US" dirty="0"/>
              <a:t>흐름에서 해당 플로우 </a:t>
            </a:r>
            <a:r>
              <a:rPr lang="en-US" altLang="ko-KR" dirty="0"/>
              <a:t>f</a:t>
            </a:r>
            <a:r>
              <a:rPr lang="ko-KR" altLang="en-US" dirty="0"/>
              <a:t>에 대해 추가적으로 부여할 </a:t>
            </a:r>
            <a:r>
              <a:rPr lang="en-US" altLang="ko-KR" dirty="0"/>
              <a:t>RTT </a:t>
            </a:r>
          </a:p>
          <a:p>
            <a:r>
              <a:rPr lang="en-US" altLang="ko-KR" dirty="0" err="1"/>
              <a:t>RTT_f</a:t>
            </a:r>
            <a:r>
              <a:rPr lang="en-US" altLang="ko-KR" dirty="0"/>
              <a:t> = </a:t>
            </a:r>
            <a:r>
              <a:rPr lang="ko-KR" altLang="en-US" dirty="0"/>
              <a:t>해당 유저의 </a:t>
            </a:r>
            <a:r>
              <a:rPr lang="en-US" altLang="ko-KR" dirty="0"/>
              <a:t>RTT </a:t>
            </a:r>
            <a:r>
              <a:rPr lang="ko-KR" altLang="en-US" dirty="0"/>
              <a:t>평균</a:t>
            </a:r>
            <a:endParaRPr lang="en-US" altLang="ko-KR" dirty="0"/>
          </a:p>
          <a:p>
            <a:r>
              <a:rPr lang="en-US" altLang="ko-KR" dirty="0" err="1"/>
              <a:t>N_t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RTT </a:t>
            </a:r>
            <a:r>
              <a:rPr lang="ko-KR" altLang="en-US" dirty="0"/>
              <a:t>시간 측정한 간격 전체 수</a:t>
            </a:r>
            <a:endParaRPr lang="en-US" altLang="ko-KR" dirty="0"/>
          </a:p>
          <a:p>
            <a:r>
              <a:rPr lang="en-US" altLang="ko-KR" dirty="0" err="1"/>
              <a:t>N_f</a:t>
            </a:r>
            <a:r>
              <a:rPr lang="en-US" altLang="ko-KR" dirty="0"/>
              <a:t> = </a:t>
            </a:r>
            <a:r>
              <a:rPr lang="ko-KR" altLang="en-US" dirty="0"/>
              <a:t>게임 서버에 </a:t>
            </a:r>
            <a:r>
              <a:rPr lang="ko-KR" altLang="en-US" dirty="0" err="1"/>
              <a:t>접속해있는</a:t>
            </a:r>
            <a:r>
              <a:rPr lang="ko-KR" altLang="en-US" dirty="0"/>
              <a:t> 전체 플로우 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RTT_i,k</a:t>
            </a:r>
            <a:r>
              <a:rPr lang="en-US" altLang="ko-KR" dirty="0"/>
              <a:t>  = </a:t>
            </a:r>
            <a:r>
              <a:rPr lang="ko-KR" altLang="en-US" dirty="0"/>
              <a:t>간격 </a:t>
            </a:r>
            <a:r>
              <a:rPr lang="en-US" altLang="ko-KR" dirty="0" err="1"/>
              <a:t>i</a:t>
            </a:r>
            <a:r>
              <a:rPr lang="ko-KR" altLang="en-US" dirty="0"/>
              <a:t>에 측정한 플로우 </a:t>
            </a:r>
            <a:r>
              <a:rPr lang="en-US" altLang="ko-KR" dirty="0"/>
              <a:t>k</a:t>
            </a:r>
            <a:r>
              <a:rPr lang="ko-KR" altLang="en-US" dirty="0"/>
              <a:t>의 </a:t>
            </a:r>
            <a:r>
              <a:rPr lang="en-US" altLang="ko-KR" dirty="0"/>
              <a:t>RTT</a:t>
            </a:r>
          </a:p>
          <a:p>
            <a:r>
              <a:rPr lang="ko-KR" altLang="en-US" dirty="0"/>
              <a:t>시그마 </a:t>
            </a:r>
            <a:r>
              <a:rPr lang="en-US" altLang="ko-KR" dirty="0"/>
              <a:t>= </a:t>
            </a:r>
            <a:r>
              <a:rPr lang="ko-KR" altLang="en-US" dirty="0"/>
              <a:t>모든 측정한 </a:t>
            </a:r>
            <a:r>
              <a:rPr lang="en-US" altLang="ko-KR" dirty="0"/>
              <a:t>RTT</a:t>
            </a:r>
            <a:r>
              <a:rPr lang="ko-KR" altLang="en-US" dirty="0"/>
              <a:t>의 표준편차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N_CI = </a:t>
            </a:r>
            <a:r>
              <a:rPr lang="ko-KR" altLang="en-US" dirty="0"/>
              <a:t>현재 혼잡 </a:t>
            </a:r>
            <a:r>
              <a:rPr lang="en-US" altLang="ko-KR" dirty="0"/>
              <a:t>(</a:t>
            </a:r>
            <a:r>
              <a:rPr lang="ko-KR" altLang="en-US" dirty="0"/>
              <a:t>혼잡 인덱스가 </a:t>
            </a:r>
            <a:r>
              <a:rPr lang="en-US" altLang="ko-KR" dirty="0"/>
              <a:t>1 </a:t>
            </a:r>
            <a:r>
              <a:rPr lang="ko-KR" altLang="en-US" dirty="0"/>
              <a:t>초과</a:t>
            </a:r>
            <a:r>
              <a:rPr lang="en-US" altLang="ko-KR" dirty="0"/>
              <a:t>) </a:t>
            </a:r>
            <a:r>
              <a:rPr lang="ko-KR" altLang="en-US" dirty="0"/>
              <a:t>한 유저 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추가할 요소</a:t>
            </a:r>
            <a:endParaRPr lang="en-US" altLang="ko-KR" dirty="0"/>
          </a:p>
          <a:p>
            <a:r>
              <a:rPr lang="ko-KR" altLang="en-US" dirty="0"/>
              <a:t>플랫폼</a:t>
            </a:r>
            <a:r>
              <a:rPr lang="en-US" altLang="ko-KR" dirty="0"/>
              <a:t> </a:t>
            </a:r>
            <a:r>
              <a:rPr lang="ko-KR" altLang="en-US" dirty="0"/>
              <a:t>가중치</a:t>
            </a:r>
            <a:r>
              <a:rPr lang="en-US" altLang="ko-KR" dirty="0"/>
              <a:t>, FPS / RTT</a:t>
            </a:r>
            <a:r>
              <a:rPr lang="ko-KR" altLang="en-US" dirty="0"/>
              <a:t>를 서버와 나 관계가 아니라 모두의 관계로 생각하면 좋을지도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A0413C-5F6E-61B4-4350-FF37A8D4B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28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944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062BC-3542-4D4C-6183-E882D293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6C9E-1338-F0F6-2965-2021BF07D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A32F4E-DF42-5416-8944-FF9F68AB7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54919-5131-10DD-F796-6B0240D5F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48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4CD9-FB8D-779F-1BED-2666C666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24A142-6623-966D-9B5B-1904E40A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D78AB0-573A-84E6-B68E-66FB705EA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583DF-57C9-77A1-53E7-202E4E329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410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6381-3140-772B-74A6-FDC96458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354241-FC27-A7B0-6E22-9413207A1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A89BD1-05DF-AB81-EEEE-3677C5E15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DF3E4-2C03-C474-B0A9-BB01C8A56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16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8BFA-90C3-BD48-AFC4-353BA76B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F2AAA7-F1E1-BBAD-6AA4-C77563CF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D8A136-0C2C-D67D-FF4C-872C89DA6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85A6B3-837A-14C4-E740-8B855B163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848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CI_f</a:t>
            </a:r>
            <a:r>
              <a:rPr lang="en-US" altLang="ko-KR" dirty="0"/>
              <a:t> = </a:t>
            </a:r>
            <a:r>
              <a:rPr lang="ko-KR" altLang="en-US" dirty="0"/>
              <a:t>플로우 </a:t>
            </a:r>
            <a:r>
              <a:rPr lang="en-US" altLang="ko-KR" dirty="0"/>
              <a:t>f</a:t>
            </a:r>
            <a:r>
              <a:rPr lang="ko-KR" altLang="en-US" dirty="0"/>
              <a:t>의 혼잡 인덱스</a:t>
            </a:r>
            <a:endParaRPr lang="en-US" altLang="ko-KR" dirty="0"/>
          </a:p>
          <a:p>
            <a:r>
              <a:rPr lang="en-US" altLang="ko-KR" dirty="0" err="1"/>
              <a:t>Q_f,I</a:t>
            </a:r>
            <a:r>
              <a:rPr lang="en-US" altLang="ko-KR" dirty="0"/>
              <a:t> = </a:t>
            </a:r>
            <a:r>
              <a:rPr lang="ko-KR" altLang="en-US" dirty="0"/>
              <a:t>플로우 </a:t>
            </a:r>
            <a:r>
              <a:rPr lang="en-US" altLang="ko-KR" dirty="0"/>
              <a:t>f</a:t>
            </a:r>
            <a:r>
              <a:rPr lang="ko-KR" altLang="en-US" dirty="0"/>
              <a:t>의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간격 때 큐 길이 </a:t>
            </a:r>
            <a:r>
              <a:rPr lang="en-US" altLang="ko-KR" dirty="0"/>
              <a:t>(</a:t>
            </a:r>
            <a:r>
              <a:rPr lang="ko-KR" altLang="en-US" dirty="0"/>
              <a:t>패킷 수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FR_f,I</a:t>
            </a:r>
            <a:r>
              <a:rPr lang="en-US" altLang="ko-KR" dirty="0"/>
              <a:t> = </a:t>
            </a:r>
            <a:r>
              <a:rPr lang="ko-KR" altLang="en-US" dirty="0"/>
              <a:t>플로우 </a:t>
            </a:r>
            <a:r>
              <a:rPr lang="en-US" altLang="ko-KR" dirty="0"/>
              <a:t>f</a:t>
            </a:r>
            <a:r>
              <a:rPr lang="ko-KR" altLang="en-US" dirty="0"/>
              <a:t>의 </a:t>
            </a:r>
            <a:r>
              <a:rPr lang="en-US" altLang="ko-KR" dirty="0"/>
              <a:t>I </a:t>
            </a:r>
            <a:r>
              <a:rPr lang="ko-KR" altLang="en-US" dirty="0"/>
              <a:t>간격 때 초당 패킷 플로우 속도 </a:t>
            </a:r>
            <a:r>
              <a:rPr lang="en-US" altLang="ko-KR" dirty="0"/>
              <a:t>(</a:t>
            </a:r>
            <a:r>
              <a:rPr lang="ko-KR" altLang="en-US" dirty="0"/>
              <a:t>패킷 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강조는 처음부터 지금까지 평균을 의미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T_b</a:t>
            </a:r>
            <a:r>
              <a:rPr lang="en-US" altLang="ko-KR" dirty="0"/>
              <a:t> = </a:t>
            </a:r>
            <a:r>
              <a:rPr lang="ko-KR" altLang="en-US" dirty="0"/>
              <a:t>현재 측정 시간</a:t>
            </a:r>
            <a:endParaRPr lang="en-US" altLang="ko-KR" dirty="0"/>
          </a:p>
          <a:p>
            <a:r>
              <a:rPr lang="en-US" altLang="ko-KR" dirty="0"/>
              <a:t>T_b-1 = </a:t>
            </a:r>
            <a:r>
              <a:rPr lang="ko-KR" altLang="en-US" dirty="0"/>
              <a:t>직전 측정 시간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N_c</a:t>
            </a:r>
            <a:r>
              <a:rPr lang="en-US" altLang="ko-KR" dirty="0"/>
              <a:t> = </a:t>
            </a:r>
            <a:r>
              <a:rPr lang="ko-KR" altLang="en-US" dirty="0"/>
              <a:t>현재 경쟁 중인 플로우 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678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73DA-44E6-5CAF-D80D-E3469A59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4B785-F565-5E04-DB99-B38424703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4C6EB-7173-74DC-1F2E-AEA8FD6A2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CI_f</a:t>
            </a:r>
            <a:r>
              <a:rPr lang="en-US" altLang="ko-KR" dirty="0"/>
              <a:t> = </a:t>
            </a:r>
            <a:r>
              <a:rPr lang="ko-KR" altLang="en-US" dirty="0"/>
              <a:t>플로우 </a:t>
            </a:r>
            <a:r>
              <a:rPr lang="en-US" altLang="ko-KR" dirty="0"/>
              <a:t>f</a:t>
            </a:r>
            <a:r>
              <a:rPr lang="ko-KR" altLang="en-US" dirty="0"/>
              <a:t>의 혼잡 인덱스</a:t>
            </a:r>
            <a:endParaRPr lang="en-US" altLang="ko-KR" dirty="0"/>
          </a:p>
          <a:p>
            <a:r>
              <a:rPr lang="en-US" altLang="ko-KR" dirty="0" err="1"/>
              <a:t>Q_f,I</a:t>
            </a:r>
            <a:r>
              <a:rPr lang="en-US" altLang="ko-KR" dirty="0"/>
              <a:t> = </a:t>
            </a:r>
            <a:r>
              <a:rPr lang="ko-KR" altLang="en-US" dirty="0"/>
              <a:t>플로우 </a:t>
            </a:r>
            <a:r>
              <a:rPr lang="en-US" altLang="ko-KR" dirty="0"/>
              <a:t>f</a:t>
            </a:r>
            <a:r>
              <a:rPr lang="ko-KR" altLang="en-US" dirty="0"/>
              <a:t>의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간격 때 큐 길이 </a:t>
            </a:r>
            <a:r>
              <a:rPr lang="en-US" altLang="ko-KR" dirty="0"/>
              <a:t>(</a:t>
            </a:r>
            <a:r>
              <a:rPr lang="ko-KR" altLang="en-US" dirty="0"/>
              <a:t>패킷 수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FR_f,I</a:t>
            </a:r>
            <a:r>
              <a:rPr lang="en-US" altLang="ko-KR" dirty="0"/>
              <a:t> = </a:t>
            </a:r>
            <a:r>
              <a:rPr lang="ko-KR" altLang="en-US" dirty="0"/>
              <a:t>플로우 </a:t>
            </a:r>
            <a:r>
              <a:rPr lang="en-US" altLang="ko-KR" dirty="0"/>
              <a:t>f</a:t>
            </a:r>
            <a:r>
              <a:rPr lang="ko-KR" altLang="en-US" dirty="0"/>
              <a:t>의 </a:t>
            </a:r>
            <a:r>
              <a:rPr lang="en-US" altLang="ko-KR" dirty="0"/>
              <a:t>I </a:t>
            </a:r>
            <a:r>
              <a:rPr lang="ko-KR" altLang="en-US" dirty="0"/>
              <a:t>간격 때 초당 패킷 플로우 속도 </a:t>
            </a:r>
            <a:r>
              <a:rPr lang="en-US" altLang="ko-KR" dirty="0"/>
              <a:t>(</a:t>
            </a:r>
            <a:r>
              <a:rPr lang="ko-KR" altLang="en-US" dirty="0"/>
              <a:t>패킷 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강조는 처음부터 지금까지 평균을 의미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T_b</a:t>
            </a:r>
            <a:r>
              <a:rPr lang="en-US" altLang="ko-KR" dirty="0"/>
              <a:t> = </a:t>
            </a:r>
            <a:r>
              <a:rPr lang="ko-KR" altLang="en-US" dirty="0"/>
              <a:t>현재 측정 시간</a:t>
            </a:r>
            <a:endParaRPr lang="en-US" altLang="ko-KR" dirty="0"/>
          </a:p>
          <a:p>
            <a:r>
              <a:rPr lang="en-US" altLang="ko-KR" dirty="0"/>
              <a:t>T_b-1 = </a:t>
            </a:r>
            <a:r>
              <a:rPr lang="ko-KR" altLang="en-US" dirty="0"/>
              <a:t>직전 측정 시간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N_c</a:t>
            </a:r>
            <a:r>
              <a:rPr lang="en-US" altLang="ko-KR" dirty="0"/>
              <a:t> = </a:t>
            </a:r>
            <a:r>
              <a:rPr lang="ko-KR" altLang="en-US" dirty="0"/>
              <a:t>현재 경쟁 중인 플로우 수</a:t>
            </a:r>
            <a:endParaRPr lang="en-US" altLang="ko-KR" dirty="0"/>
          </a:p>
          <a:p>
            <a:r>
              <a:rPr lang="en-US" altLang="ko-KR" dirty="0" err="1"/>
              <a:t>N_t</a:t>
            </a:r>
            <a:r>
              <a:rPr lang="en-US" altLang="ko-KR" dirty="0"/>
              <a:t> = </a:t>
            </a:r>
            <a:r>
              <a:rPr lang="ko-KR" altLang="en-US" dirty="0"/>
              <a:t>현재까지 측정 실행 횟수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CI_f</a:t>
            </a:r>
            <a:r>
              <a:rPr lang="en-US" altLang="ko-KR" dirty="0"/>
              <a:t> = </a:t>
            </a:r>
            <a:r>
              <a:rPr lang="ko-KR" altLang="en-US" dirty="0"/>
              <a:t>현재 측정 시간 </a:t>
            </a:r>
            <a:r>
              <a:rPr lang="en-US" altLang="ko-KR" dirty="0" err="1"/>
              <a:t>T_b</a:t>
            </a:r>
            <a:r>
              <a:rPr lang="en-US" altLang="ko-KR" dirty="0"/>
              <a:t> </a:t>
            </a:r>
            <a:r>
              <a:rPr lang="ko-KR" altLang="en-US" dirty="0"/>
              <a:t>때 플로우 </a:t>
            </a:r>
            <a:r>
              <a:rPr lang="en-US" altLang="ko-KR" dirty="0"/>
              <a:t>f</a:t>
            </a:r>
            <a:r>
              <a:rPr lang="ko-KR" altLang="en-US" dirty="0"/>
              <a:t>의 평균 큐 길이 </a:t>
            </a:r>
            <a:r>
              <a:rPr lang="en-US" altLang="ko-KR" dirty="0"/>
              <a:t>/ </a:t>
            </a:r>
            <a:r>
              <a:rPr lang="ko-KR" altLang="en-US" dirty="0"/>
              <a:t>이전 측정 시간 </a:t>
            </a:r>
            <a:r>
              <a:rPr lang="en-US" altLang="ko-KR" dirty="0" err="1"/>
              <a:t>T_b</a:t>
            </a:r>
            <a:r>
              <a:rPr lang="en-US" altLang="ko-KR" dirty="0"/>
              <a:t> – 1 </a:t>
            </a:r>
            <a:r>
              <a:rPr lang="ko-KR" altLang="en-US" dirty="0"/>
              <a:t>때 평균 패킷 플로우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7A1564-24EA-3E95-F12A-3EA12F25B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F58F7E-47D6-4BB7-8A09-EC68B3D7F324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49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텍스트 개체 틀 20">
            <a:extLst>
              <a:ext uri="{FF2B5EF4-FFF2-40B4-BE49-F238E27FC236}">
                <a16:creationId xmlns:a16="http://schemas.microsoft.com/office/drawing/2014/main" id="{49037637-2E41-3D2E-B9B5-6A5B62CA9E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5950" y="4493349"/>
            <a:ext cx="1682750" cy="2071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30" name="텍스트 개체 틀 20">
            <a:extLst>
              <a:ext uri="{FF2B5EF4-FFF2-40B4-BE49-F238E27FC236}">
                <a16:creationId xmlns:a16="http://schemas.microsoft.com/office/drawing/2014/main" id="{6FB25A6C-5D55-BC51-A1FB-40238571B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7175" y="4208882"/>
            <a:ext cx="3311525" cy="2071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소속</a:t>
            </a:r>
          </a:p>
        </p:txBody>
      </p:sp>
      <p:sp>
        <p:nvSpPr>
          <p:cNvPr id="28" name="텍스트 개체 틀 20">
            <a:extLst>
              <a:ext uri="{FF2B5EF4-FFF2-40B4-BE49-F238E27FC236}">
                <a16:creationId xmlns:a16="http://schemas.microsoft.com/office/drawing/2014/main" id="{03D4BE87-3026-EE05-D39E-8CB55E91DC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2350" y="1269186"/>
            <a:ext cx="6113462" cy="277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프로젝트명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4C04964-8E44-E2B1-4BC1-DE55410725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504040"/>
            <a:ext cx="12192000" cy="135396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75EC01-8690-1AFD-2AD2-DE7FD3FD1368}"/>
              </a:ext>
            </a:extLst>
          </p:cNvPr>
          <p:cNvSpPr/>
          <p:nvPr userDrawn="1"/>
        </p:nvSpPr>
        <p:spPr>
          <a:xfrm>
            <a:off x="1041400" y="514350"/>
            <a:ext cx="10102850" cy="69850"/>
          </a:xfrm>
          <a:prstGeom prst="rect">
            <a:avLst/>
          </a:prstGeom>
          <a:solidFill>
            <a:srgbClr val="0F31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날짜 개체 틀 3">
            <a:extLst>
              <a:ext uri="{FF2B5EF4-FFF2-40B4-BE49-F238E27FC236}">
                <a16:creationId xmlns:a16="http://schemas.microsoft.com/office/drawing/2014/main" id="{4C9E088C-A92F-F0BC-9F8E-D2DE5BA5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8350" y="237351"/>
            <a:ext cx="2743200" cy="270650"/>
          </a:xfrm>
          <a:prstGeom prst="rect">
            <a:avLst/>
          </a:prstGeom>
        </p:spPr>
        <p:txBody>
          <a:bodyPr anchor="b" anchorCtr="0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2024-08-16</a:t>
            </a:r>
            <a:endParaRPr lang="ko-KR" altLang="en-US" dirty="0"/>
          </a:p>
        </p:txBody>
      </p:sp>
      <p:sp>
        <p:nvSpPr>
          <p:cNvPr id="27" name="텍스트 개체 틀 20">
            <a:extLst>
              <a:ext uri="{FF2B5EF4-FFF2-40B4-BE49-F238E27FC236}">
                <a16:creationId xmlns:a16="http://schemas.microsoft.com/office/drawing/2014/main" id="{7144C65D-F3B7-3589-F214-7ADEF36120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2350" y="1637283"/>
            <a:ext cx="6113462" cy="81699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89540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9448800" y="6492487"/>
            <a:ext cx="2743200" cy="365125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2024-08-16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766954" y="6492875"/>
            <a:ext cx="658091" cy="365125"/>
          </a:xfrm>
          <a:prstGeom prst="rect">
            <a:avLst/>
          </a:prstGeom>
        </p:spPr>
        <p:txBody>
          <a:bodyPr anchor="b" anchorCtr="0"/>
          <a:lstStyle>
            <a:lvl1pPr algn="ctr">
              <a:defRPr sz="1200"/>
            </a:lvl1pPr>
          </a:lstStyle>
          <a:p>
            <a:fld id="{D81B08BE-9E47-4B07-B29C-AE0B473C32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AB2291-311E-13E9-B574-18D8289BE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70403"/>
          </a:xfrm>
          <a:prstGeom prst="rect">
            <a:avLst/>
          </a:prstGeom>
        </p:spPr>
      </p:pic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DD0A79F-0564-F63E-A9D6-942BB588BB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475" y="228189"/>
            <a:ext cx="6642100" cy="4140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ko-KR" dirty="0"/>
              <a:t>Section</a:t>
            </a:r>
            <a:endParaRPr lang="ko-KR" altLang="en-US" dirty="0"/>
          </a:p>
        </p:txBody>
      </p:sp>
      <p:sp>
        <p:nvSpPr>
          <p:cNvPr id="24" name="텍스트 개체 틀 20">
            <a:extLst>
              <a:ext uri="{FF2B5EF4-FFF2-40B4-BE49-F238E27FC236}">
                <a16:creationId xmlns:a16="http://schemas.microsoft.com/office/drawing/2014/main" id="{98A6BFC7-156E-B32B-AD98-A45542E24E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29550" y="177252"/>
            <a:ext cx="4117975" cy="46496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5F823A52-CE19-2C7A-5763-7500CB6C50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4475" y="1247775"/>
            <a:ext cx="8743950" cy="10995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/>
            </a:lvl1pPr>
            <a:lvl2pPr marL="0" indent="-285750">
              <a:buSzPct val="98000"/>
              <a:buFont typeface="맑은 고딕" panose="020B0503020000020004" pitchFamily="50" charset="-127"/>
              <a:buChar char="-"/>
              <a:defRPr sz="1200" b="1"/>
            </a:lvl2pPr>
            <a:lvl3pPr marL="0" indent="0">
              <a:buNone/>
              <a:defRPr/>
            </a:lvl3pPr>
          </a:lstStyle>
          <a:p>
            <a:pPr lvl="0"/>
            <a:r>
              <a:rPr lang="en-US" altLang="ko-KR" dirty="0"/>
              <a:t>SubSection 1</a:t>
            </a:r>
          </a:p>
          <a:p>
            <a:pPr lvl="1"/>
            <a:r>
              <a:rPr lang="en-US" altLang="ko-KR" dirty="0"/>
              <a:t>Content 1</a:t>
            </a:r>
          </a:p>
          <a:p>
            <a:pPr lvl="1"/>
            <a:r>
              <a:rPr lang="en-US" altLang="ko-KR" dirty="0"/>
              <a:t>Content 2</a:t>
            </a:r>
          </a:p>
          <a:p>
            <a:pPr lvl="1"/>
            <a:r>
              <a:rPr lang="en-US" altLang="ko-KR" dirty="0"/>
              <a:t>Content 3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5" name="텍스트 개체 틀 31">
            <a:extLst>
              <a:ext uri="{FF2B5EF4-FFF2-40B4-BE49-F238E27FC236}">
                <a16:creationId xmlns:a16="http://schemas.microsoft.com/office/drawing/2014/main" id="{8EC64156-61C0-85D7-D753-1D8111E9B4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475" y="2724647"/>
            <a:ext cx="8743950" cy="10995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/>
            </a:lvl1pPr>
            <a:lvl2pPr marL="0" indent="-285750">
              <a:buSzPct val="98000"/>
              <a:buFont typeface="맑은 고딕" panose="020B0503020000020004" pitchFamily="50" charset="-127"/>
              <a:buChar char="-"/>
              <a:defRPr sz="1200" b="1"/>
            </a:lvl2pPr>
            <a:lvl3pPr marL="0" indent="0">
              <a:buNone/>
              <a:defRPr/>
            </a:lvl3pPr>
          </a:lstStyle>
          <a:p>
            <a:pPr lvl="0"/>
            <a:r>
              <a:rPr lang="en-US" altLang="ko-KR" dirty="0"/>
              <a:t>SubSection 2</a:t>
            </a:r>
          </a:p>
          <a:p>
            <a:pPr lvl="1"/>
            <a:r>
              <a:rPr lang="en-US" altLang="ko-KR" dirty="0"/>
              <a:t>Content 1</a:t>
            </a:r>
          </a:p>
          <a:p>
            <a:pPr lvl="1"/>
            <a:r>
              <a:rPr lang="en-US" altLang="ko-KR" dirty="0"/>
              <a:t>Content 2</a:t>
            </a:r>
          </a:p>
          <a:p>
            <a:pPr lvl="1"/>
            <a:r>
              <a:rPr lang="en-US" altLang="ko-KR" dirty="0"/>
              <a:t>Content 3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037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텍스트 개체 틀 20">
            <a:extLst>
              <a:ext uri="{FF2B5EF4-FFF2-40B4-BE49-F238E27FC236}">
                <a16:creationId xmlns:a16="http://schemas.microsoft.com/office/drawing/2014/main" id="{49037637-2E41-3D2E-B9B5-6A5B62CA9E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5950" y="4493349"/>
            <a:ext cx="1682750" cy="2071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30" name="텍스트 개체 틀 20">
            <a:extLst>
              <a:ext uri="{FF2B5EF4-FFF2-40B4-BE49-F238E27FC236}">
                <a16:creationId xmlns:a16="http://schemas.microsoft.com/office/drawing/2014/main" id="{6FB25A6C-5D55-BC51-A1FB-40238571B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7175" y="4208882"/>
            <a:ext cx="3311525" cy="2071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소속</a:t>
            </a:r>
          </a:p>
        </p:txBody>
      </p:sp>
      <p:sp>
        <p:nvSpPr>
          <p:cNvPr id="28" name="텍스트 개체 틀 20">
            <a:extLst>
              <a:ext uri="{FF2B5EF4-FFF2-40B4-BE49-F238E27FC236}">
                <a16:creationId xmlns:a16="http://schemas.microsoft.com/office/drawing/2014/main" id="{03D4BE87-3026-EE05-D39E-8CB55E91DC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2350" y="1269186"/>
            <a:ext cx="6113462" cy="277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 lvl="0"/>
            <a:r>
              <a:rPr lang="ko-KR" altLang="en-US" dirty="0"/>
              <a:t>프로젝트명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4C04964-8E44-E2B1-4BC1-DE55410725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504040"/>
            <a:ext cx="12192000" cy="135396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75EC01-8690-1AFD-2AD2-DE7FD3FD1368}"/>
              </a:ext>
            </a:extLst>
          </p:cNvPr>
          <p:cNvSpPr/>
          <p:nvPr userDrawn="1"/>
        </p:nvSpPr>
        <p:spPr>
          <a:xfrm>
            <a:off x="1041400" y="514350"/>
            <a:ext cx="10102850" cy="69850"/>
          </a:xfrm>
          <a:prstGeom prst="rect">
            <a:avLst/>
          </a:prstGeom>
          <a:solidFill>
            <a:srgbClr val="0F31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날짜 개체 틀 3">
            <a:extLst>
              <a:ext uri="{FF2B5EF4-FFF2-40B4-BE49-F238E27FC236}">
                <a16:creationId xmlns:a16="http://schemas.microsoft.com/office/drawing/2014/main" id="{4C9E088C-A92F-F0BC-9F8E-D2DE5BA5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8350" y="237351"/>
            <a:ext cx="2743200" cy="270650"/>
          </a:xfrm>
          <a:prstGeom prst="rect">
            <a:avLst/>
          </a:prstGeom>
        </p:spPr>
        <p:txBody>
          <a:bodyPr anchor="b" anchorCtr="0"/>
          <a:lstStyle>
            <a:lvl1pPr algn="r">
              <a:defRPr sz="1200" b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CAD7BCAF-9291-4B34-936C-77AB7D5867EC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27" name="텍스트 개체 틀 20">
            <a:extLst>
              <a:ext uri="{FF2B5EF4-FFF2-40B4-BE49-F238E27FC236}">
                <a16:creationId xmlns:a16="http://schemas.microsoft.com/office/drawing/2014/main" id="{7144C65D-F3B7-3589-F214-7ADEF36120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2350" y="1637283"/>
            <a:ext cx="6113462" cy="81699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B6733C-8071-14A7-E2F9-C92505AE3A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2350" y="2544763"/>
            <a:ext cx="6113463" cy="71278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3394103527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D628235-E418-E19C-92D1-9617AE311F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475" y="1247775"/>
            <a:ext cx="8743950" cy="4937365"/>
          </a:xfrm>
          <a:prstGeom prst="rect">
            <a:avLst/>
          </a:prstGeom>
        </p:spPr>
        <p:txBody>
          <a:bodyPr/>
          <a:lstStyle>
            <a:lvl1pPr marL="228600" indent="-228600">
              <a:buFont typeface="맑은 고딕" panose="020B0503020000020004" pitchFamily="50" charset="-127"/>
              <a:buChar char="-"/>
              <a:defRPr sz="2000" b="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685800" indent="-228600">
              <a:buFont typeface="맑은 고딕" panose="020B0503020000020004" pitchFamily="50" charset="-127"/>
              <a:buChar char="-"/>
              <a:defRPr sz="18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1143000" indent="-228600">
              <a:buFont typeface="맑은 고딕" panose="020B0503020000020004" pitchFamily="50" charset="-127"/>
              <a:buChar char="-"/>
              <a:defRPr sz="16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600200" indent="-228600">
              <a:buFont typeface="맑은 고딕" panose="020B0503020000020004" pitchFamily="50" charset="-127"/>
              <a:buChar char="-"/>
              <a:defRPr sz="14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2057400" indent="-228600">
              <a:buFont typeface="맑은 고딕" panose="020B0503020000020004" pitchFamily="50" charset="-127"/>
              <a:buChar char="-"/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en-US" altLang="ko-KR" dirty="0"/>
              <a:t>Section 1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9448800" y="6492487"/>
            <a:ext cx="2743200" cy="365125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766954" y="6492875"/>
            <a:ext cx="658091" cy="365125"/>
          </a:xfrm>
          <a:prstGeom prst="rect">
            <a:avLst/>
          </a:prstGeom>
        </p:spPr>
        <p:txBody>
          <a:bodyPr anchor="b" anchorCtr="0"/>
          <a:lstStyle>
            <a:lvl1pPr algn="ctr">
              <a:defRPr sz="1200"/>
            </a:lvl1pPr>
          </a:lstStyle>
          <a:p>
            <a:fld id="{D81B08BE-9E47-4B07-B29C-AE0B473C32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AB2291-311E-13E9-B574-18D8289BE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70403"/>
          </a:xfrm>
          <a:prstGeom prst="rect">
            <a:avLst/>
          </a:prstGeom>
        </p:spPr>
      </p:pic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DD0A79F-0564-F63E-A9D6-942BB588BB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475" y="228189"/>
            <a:ext cx="6642100" cy="4140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endParaRPr lang="ko-KR" altLang="en-US" dirty="0"/>
          </a:p>
        </p:txBody>
      </p:sp>
      <p:sp>
        <p:nvSpPr>
          <p:cNvPr id="24" name="텍스트 개체 틀 20">
            <a:extLst>
              <a:ext uri="{FF2B5EF4-FFF2-40B4-BE49-F238E27FC236}">
                <a16:creationId xmlns:a16="http://schemas.microsoft.com/office/drawing/2014/main" id="{98A6BFC7-156E-B32B-AD98-A45542E24E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29550" y="177252"/>
            <a:ext cx="4117975" cy="46496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1442265632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5FC19-6761-3926-F36C-12A98205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81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6104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1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202531018 </a:t>
            </a:r>
            <a:r>
              <a:rPr lang="ko-KR" altLang="en-US"/>
              <a:t>황윤신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상명대학교 게임전공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2025-11-12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BB7791D-50CD-4D35-A07E-F0BC7A51EA11}" type="datetime1">
              <a:rPr lang="ko-KR" altLang="en-US"/>
              <a:pPr lvl="0">
                <a:defRPr/>
              </a:pPr>
              <a:t>2026-01-15</a:t>
            </a:fld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1022349" y="1637283"/>
            <a:ext cx="10754491" cy="816992"/>
          </a:xfrm>
        </p:spPr>
        <p:txBody>
          <a:bodyPr lIns="91440" tIns="45720" rIns="91440" bIns="45720" anchor="ctr" anchorCtr="0">
            <a:noAutofit/>
          </a:bodyPr>
          <a:lstStyle/>
          <a:p>
            <a:pPr lvl="0">
              <a:defRPr/>
            </a:pPr>
            <a:r>
              <a:rPr lang="en-US" altLang="ko-KR" sz="2400" dirty="0"/>
              <a:t>Progress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4C2F-BEF2-BFA6-7BE4-EC8F8587A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1BCEC8-8B15-5E68-0FEB-FC5AE6B8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E80B2C-6E17-883E-DE7E-83D85DF2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F36245-921D-BDDA-910D-857C3F2A56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이번 주 작업사항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1C680F2-C1E5-4444-4E44-CCDEB3999A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FB791-BAF0-E794-A9CF-F4C3E1BB8AD3}"/>
              </a:ext>
            </a:extLst>
          </p:cNvPr>
          <p:cNvSpPr txBox="1"/>
          <p:nvPr/>
        </p:nvSpPr>
        <p:spPr>
          <a:xfrm>
            <a:off x="424873" y="1163782"/>
            <a:ext cx="11522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최신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qdisc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(cake)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커널 설치 성공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eBPF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프로그램 개선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559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13C91-369F-8AB2-992C-A04B2268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E75985-7336-5107-ABF1-01C68F4A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3BB57-5CD0-120C-96FD-0ADB6E1F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68940C-0273-74FB-FF2C-1027CD1468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err="1"/>
              <a:t>eBPF</a:t>
            </a:r>
            <a:r>
              <a:rPr lang="en-US" altLang="ko-KR" dirty="0"/>
              <a:t> </a:t>
            </a:r>
            <a:r>
              <a:rPr lang="ko-KR" altLang="en-US" dirty="0"/>
              <a:t>프로그램 개선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3F812A8-4FDB-7CAD-4B6A-415EA3F29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EF3B5-34A8-3C07-C82B-B7541F72B539}"/>
              </a:ext>
            </a:extLst>
          </p:cNvPr>
          <p:cNvSpPr txBox="1"/>
          <p:nvPr/>
        </p:nvSpPr>
        <p:spPr>
          <a:xfrm>
            <a:off x="407939" y="1163782"/>
            <a:ext cx="121057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클라이언트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월드 뷰 오차 완화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(Application +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Qdisc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클라이언트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플레이어 레이스 컨디션 완화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(Application)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양쪽 다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혼잡 데이터 보장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(Application)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Quality of Service- and Fairness-Aware Resource Allocation Techniques for IEEE802.11ac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WLAN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 비디오 스트리밍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스케줄러 논문 참고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전부 다 게임 서버 내에서 이루어짐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108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667D-A0CF-032D-F769-8FD3F40A6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A1258B-F7AF-08AD-B65A-62D07A50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8A291-B936-FA64-86B6-EA8192A4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3FC9DC-0C72-9E27-9F85-ACF0A396C1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서버 </a:t>
            </a:r>
            <a:r>
              <a:rPr lang="en-US" altLang="ko-KR" dirty="0"/>
              <a:t>-&gt; </a:t>
            </a:r>
            <a:r>
              <a:rPr lang="ko-KR" altLang="en-US" dirty="0"/>
              <a:t>클라이언트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4A81A46-6AFE-F3AA-670E-D54CC155E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12BD5-F53E-DD2E-38FE-F3B716F92284}"/>
              </a:ext>
            </a:extLst>
          </p:cNvPr>
          <p:cNvSpPr txBox="1"/>
          <p:nvPr/>
        </p:nvSpPr>
        <p:spPr>
          <a:xfrm>
            <a:off x="407940" y="1163782"/>
            <a:ext cx="115226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월드 뷰 오차 완화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(Application +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Qdisc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연결된 플로우가 최대한 비슷한 시간에 서버의 월드 데이터를 받을 수 있도록 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월드 데이터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월드 뷰가 다르면 게임에 치명적인 결과를 낼 수 있는 데이터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(ex)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갑자기 등장한 보급품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타겟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Application :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Qdisc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가중치 관련 정보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월드 데이터 구분 마킹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Qdisc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정보에 맞게 각 플로우 마다 지연 값 산출 및 할당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추후 공식에 플랫폼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성능 관련 가중치를 부여할 예정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12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7179-F55E-82D0-0894-D62873A3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E1DED4-5329-E26D-FDAB-0970BA18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5C2F5-D55A-6A63-8EF7-8ECABF89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3813D2-2B1C-0583-0A67-014AFFF0A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Method : 1 </a:t>
            </a:r>
            <a:r>
              <a:rPr lang="ko-KR" altLang="en-US" dirty="0"/>
              <a:t>서버 </a:t>
            </a:r>
            <a:r>
              <a:rPr lang="en-US" altLang="ko-KR" dirty="0"/>
              <a:t>-&gt; </a:t>
            </a:r>
            <a:r>
              <a:rPr lang="ko-KR" altLang="en-US" dirty="0"/>
              <a:t>클라이언트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4B2D981-701F-0ABB-C300-1553DFB8B8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EF8B1-E300-B091-1A03-0FC9F48828CB}"/>
                  </a:ext>
                </a:extLst>
              </p:cNvPr>
              <p:cNvSpPr txBox="1"/>
              <p:nvPr/>
            </p:nvSpPr>
            <p:spPr>
              <a:xfrm>
                <a:off x="-391565" y="942276"/>
                <a:ext cx="12975127" cy="3184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𝐷𝑒𝑙𝑎</m:t>
                      </m:r>
                      <m:sSub>
                        <m:sSubPr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eqArr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𝐷𝑒𝑙𝑎</m:t>
                              </m:r>
                              <m:sSub>
                                <m:sSub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=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𝑖𝑓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𝑅𝑇</m:t>
                                  </m:r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 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 </m:t>
                              </m:r>
                              <m:f>
                                <m:f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=1, 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𝑅𝑇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ko-KR" alt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0=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𝑖𝑓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𝑅𝑇</m:t>
                                  </m:r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&gt;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=1, 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𝑅𝑇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ko-KR" alt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2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𝐷𝑒𝑙𝑎</m:t>
                      </m:r>
                      <m:sSub>
                        <m:sSubPr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𝑁</m:t>
                          </m:r>
                        </m:e>
                        <m:sub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𝐶𝐼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lang="en-US" altLang="ko-K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 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 </m:t>
                                  </m:r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𝑅𝑇</m:t>
                                  </m:r>
                                  <m:sSub>
                                    <m:sSubPr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r>
                            <a:rPr lang="ko-KR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𝑅𝑇</m:t>
                              </m:r>
                              <m:sSub>
                                <m:sSub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ko-KR" sz="2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EF8B1-E300-B091-1A03-0FC9F4882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1565" y="942276"/>
                <a:ext cx="12975127" cy="3184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57E5051-542F-7E80-8A5C-0B57641F9C70}"/>
              </a:ext>
            </a:extLst>
          </p:cNvPr>
          <p:cNvSpPr txBox="1"/>
          <p:nvPr/>
        </p:nvSpPr>
        <p:spPr>
          <a:xfrm>
            <a:off x="390781" y="3767489"/>
            <a:ext cx="82465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Delay_f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게임서버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egress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흐름에서 해당 플로우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대해 추가적으로 부여할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RTT </a:t>
            </a: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RTT_f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유저의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RTT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평균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N_t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RTT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측정한 간격 전체 수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N_f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서버에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접속해있는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전체 플로우 수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RTT_i,k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간격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측정한 플로우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k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RTT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시그마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측정한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RTT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표준편차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N_CI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혼잡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혼잡 인덱스가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초과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 유저 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따라 달라짐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상수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330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B5044-EC4F-3C00-5AEB-05C87AC8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789109-9DF8-717B-6EB0-F612D196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1E4D6-8DF5-06C9-3BC5-B8F68FC1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27F125-1ECC-68C6-7239-E462A6B9F9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dirty="0"/>
              <a:t>-&gt; </a:t>
            </a:r>
            <a:r>
              <a:rPr lang="ko-KR" altLang="en-US" dirty="0"/>
              <a:t>서버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2107F34-C85B-F051-B785-9F17E35B8A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62E5D-B575-5CE2-02B2-CCBD0059B8C1}"/>
              </a:ext>
            </a:extLst>
          </p:cNvPr>
          <p:cNvSpPr txBox="1"/>
          <p:nvPr/>
        </p:nvSpPr>
        <p:spPr>
          <a:xfrm>
            <a:off x="407940" y="1163782"/>
            <a:ext cx="115226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플레이어 레이스 컨디션 완화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(Application)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클라이언트에서 게임 결과와 직결되는 이벤트 데이터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(ex)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사격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관련해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전송 시간보다 실력 위주로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평가가 될 수 있도록 하기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완전히 정렬할 것인지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2)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유예시간만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줄건지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아직 고민 중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방향을 정한 다음 공식을 만들 예정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29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6DE0-583F-D4DF-AF04-9854AFB69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7120F9-25B8-97F1-3D52-6D0C6D8F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AD2BA6-336C-DA3C-6647-08D7B6C2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A25036-AD1B-9E2B-5407-5D346D584F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완전히 정렬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646489-6924-F638-760E-40E92419A3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D0CA089-DE23-329D-ED0B-F41A318BAF39}"/>
              </a:ext>
            </a:extLst>
          </p:cNvPr>
          <p:cNvCxnSpPr>
            <a:cxnSpLocks/>
          </p:cNvCxnSpPr>
          <p:nvPr/>
        </p:nvCxnSpPr>
        <p:spPr>
          <a:xfrm>
            <a:off x="3462830" y="1753966"/>
            <a:ext cx="5324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52ECCE7-F007-4FC3-21AE-FB40FA263870}"/>
              </a:ext>
            </a:extLst>
          </p:cNvPr>
          <p:cNvCxnSpPr>
            <a:cxnSpLocks/>
          </p:cNvCxnSpPr>
          <p:nvPr/>
        </p:nvCxnSpPr>
        <p:spPr>
          <a:xfrm>
            <a:off x="3440044" y="2974105"/>
            <a:ext cx="5324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6A43337-8B7B-351B-628A-B6C3F2A0356A}"/>
              </a:ext>
            </a:extLst>
          </p:cNvPr>
          <p:cNvCxnSpPr>
            <a:cxnSpLocks/>
          </p:cNvCxnSpPr>
          <p:nvPr/>
        </p:nvCxnSpPr>
        <p:spPr>
          <a:xfrm>
            <a:off x="3462830" y="4416908"/>
            <a:ext cx="5324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91D3FC-09F2-EB0D-358B-2DE566DF0993}"/>
              </a:ext>
            </a:extLst>
          </p:cNvPr>
          <p:cNvSpPr txBox="1"/>
          <p:nvPr/>
        </p:nvSpPr>
        <p:spPr>
          <a:xfrm>
            <a:off x="2746327" y="1451252"/>
            <a:ext cx="69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3049EB-A2D0-CF97-E9A4-C5E4631C5ED5}"/>
              </a:ext>
            </a:extLst>
          </p:cNvPr>
          <p:cNvSpPr txBox="1"/>
          <p:nvPr/>
        </p:nvSpPr>
        <p:spPr>
          <a:xfrm>
            <a:off x="2746327" y="2671392"/>
            <a:ext cx="69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E6E31A-5EF7-D422-9BDF-85F5D3135F38}"/>
              </a:ext>
            </a:extLst>
          </p:cNvPr>
          <p:cNvSpPr txBox="1"/>
          <p:nvPr/>
        </p:nvSpPr>
        <p:spPr>
          <a:xfrm>
            <a:off x="2769113" y="4114195"/>
            <a:ext cx="69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62F4B3C-5075-F7C1-BB60-B979377CC65F}"/>
              </a:ext>
            </a:extLst>
          </p:cNvPr>
          <p:cNvCxnSpPr>
            <a:cxnSpLocks/>
          </p:cNvCxnSpPr>
          <p:nvPr/>
        </p:nvCxnSpPr>
        <p:spPr>
          <a:xfrm flipV="1">
            <a:off x="3744097" y="1753965"/>
            <a:ext cx="1248033" cy="122014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E4FB18D-F57E-F38C-D4A5-BEE09BF3BE47}"/>
              </a:ext>
            </a:extLst>
          </p:cNvPr>
          <p:cNvCxnSpPr>
            <a:cxnSpLocks/>
          </p:cNvCxnSpPr>
          <p:nvPr/>
        </p:nvCxnSpPr>
        <p:spPr>
          <a:xfrm>
            <a:off x="3744097" y="2974105"/>
            <a:ext cx="1878227" cy="144280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2B9B32F-2BAE-6126-E850-D71D291E9F56}"/>
              </a:ext>
            </a:extLst>
          </p:cNvPr>
          <p:cNvCxnSpPr>
            <a:cxnSpLocks/>
          </p:cNvCxnSpPr>
          <p:nvPr/>
        </p:nvCxnSpPr>
        <p:spPr>
          <a:xfrm flipV="1">
            <a:off x="5840306" y="2998409"/>
            <a:ext cx="1462537" cy="14184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66EE2CC-6799-3DE1-92E1-3AF8FC4B200F}"/>
              </a:ext>
            </a:extLst>
          </p:cNvPr>
          <p:cNvCxnSpPr>
            <a:cxnSpLocks/>
          </p:cNvCxnSpPr>
          <p:nvPr/>
        </p:nvCxnSpPr>
        <p:spPr>
          <a:xfrm>
            <a:off x="5766954" y="1726947"/>
            <a:ext cx="1119621" cy="122014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0BBEC8E-C1B5-81B6-8C00-72B6506FB2AC}"/>
              </a:ext>
            </a:extLst>
          </p:cNvPr>
          <p:cNvSpPr txBox="1"/>
          <p:nvPr/>
        </p:nvSpPr>
        <p:spPr>
          <a:xfrm>
            <a:off x="244475" y="5201535"/>
            <a:ext cx="5324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서버 네트워크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틱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당 보내는 데이터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U_n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받은 이래로 보낸 입력 데이터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까지 보낸 반응시간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DT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플로우가 들어올 때까지 기다리는 시간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4C550E-6063-B198-FAC5-4C68F0F02DB2}"/>
              </a:ext>
            </a:extLst>
          </p:cNvPr>
          <p:cNvSpPr txBox="1"/>
          <p:nvPr/>
        </p:nvSpPr>
        <p:spPr>
          <a:xfrm>
            <a:off x="3385039" y="2215630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6D5A32-A8AC-8B6F-5B6F-2AB5B3E730EA}"/>
              </a:ext>
            </a:extLst>
          </p:cNvPr>
          <p:cNvSpPr txBox="1"/>
          <p:nvPr/>
        </p:nvSpPr>
        <p:spPr>
          <a:xfrm>
            <a:off x="5142937" y="1174674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2FEAA-84AF-7159-8D98-2D537D06692A}"/>
              </a:ext>
            </a:extLst>
          </p:cNvPr>
          <p:cNvSpPr txBox="1"/>
          <p:nvPr/>
        </p:nvSpPr>
        <p:spPr>
          <a:xfrm>
            <a:off x="6589044" y="2157136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D4E9DB-CA21-2A7D-D69A-0A9C934B6D16}"/>
              </a:ext>
            </a:extLst>
          </p:cNvPr>
          <p:cNvSpPr txBox="1"/>
          <p:nvPr/>
        </p:nvSpPr>
        <p:spPr>
          <a:xfrm>
            <a:off x="3385039" y="3382502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136267-F63F-AC81-68BA-EE10DA5D902A}"/>
              </a:ext>
            </a:extLst>
          </p:cNvPr>
          <p:cNvSpPr txBox="1"/>
          <p:nvPr/>
        </p:nvSpPr>
        <p:spPr>
          <a:xfrm>
            <a:off x="6678826" y="3691690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E439BF-CA80-0828-6153-3D4204ACB14A}"/>
              </a:ext>
            </a:extLst>
          </p:cNvPr>
          <p:cNvSpPr txBox="1"/>
          <p:nvPr/>
        </p:nvSpPr>
        <p:spPr>
          <a:xfrm>
            <a:off x="5414690" y="4519565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47EA7B-9AEA-4B72-EDC1-A324AD42675A}"/>
              </a:ext>
            </a:extLst>
          </p:cNvPr>
          <p:cNvSpPr/>
          <p:nvPr/>
        </p:nvSpPr>
        <p:spPr>
          <a:xfrm>
            <a:off x="4992130" y="1682084"/>
            <a:ext cx="848176" cy="180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FEC6DF-09FB-C467-A552-FC91C6E81D98}"/>
              </a:ext>
            </a:extLst>
          </p:cNvPr>
          <p:cNvSpPr/>
          <p:nvPr/>
        </p:nvSpPr>
        <p:spPr>
          <a:xfrm>
            <a:off x="5516516" y="4352313"/>
            <a:ext cx="409861" cy="180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2915CB-6BA7-2346-5DED-00F58C4EE682}"/>
              </a:ext>
            </a:extLst>
          </p:cNvPr>
          <p:cNvSpPr txBox="1"/>
          <p:nvPr/>
        </p:nvSpPr>
        <p:spPr>
          <a:xfrm>
            <a:off x="9214122" y="5201535"/>
            <a:ext cx="3212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T_1 (M) &lt; T_1 (P)</a:t>
            </a:r>
          </a:p>
          <a:p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=&gt; Mobile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승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7C527B0-FC40-E40E-0348-8F139B07E507}"/>
              </a:ext>
            </a:extLst>
          </p:cNvPr>
          <p:cNvSpPr/>
          <p:nvPr/>
        </p:nvSpPr>
        <p:spPr>
          <a:xfrm>
            <a:off x="6821140" y="2871622"/>
            <a:ext cx="481703" cy="227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C2508C-36E1-93D7-FFC8-09CD072E4681}"/>
              </a:ext>
            </a:extLst>
          </p:cNvPr>
          <p:cNvSpPr txBox="1"/>
          <p:nvPr/>
        </p:nvSpPr>
        <p:spPr>
          <a:xfrm>
            <a:off x="7421195" y="3059228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DT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545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6080-456C-49A5-6C66-88CDD27A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932BC5-4891-C254-9720-F15C1444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E6DC4-6E7A-540A-92D2-98371358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F9E1A0-DE64-91C7-49E1-EB4B8C3514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유예 시간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9A0B69D-36BD-16B0-BE08-8A458AA944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D1CCD6E-D8ED-FADD-198A-A21453623081}"/>
              </a:ext>
            </a:extLst>
          </p:cNvPr>
          <p:cNvCxnSpPr>
            <a:cxnSpLocks/>
          </p:cNvCxnSpPr>
          <p:nvPr/>
        </p:nvCxnSpPr>
        <p:spPr>
          <a:xfrm>
            <a:off x="3462830" y="1753966"/>
            <a:ext cx="5324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6378782-1722-5D55-F61B-8D71CF10E9A3}"/>
              </a:ext>
            </a:extLst>
          </p:cNvPr>
          <p:cNvCxnSpPr>
            <a:cxnSpLocks/>
          </p:cNvCxnSpPr>
          <p:nvPr/>
        </p:nvCxnSpPr>
        <p:spPr>
          <a:xfrm>
            <a:off x="3440044" y="2974105"/>
            <a:ext cx="5324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DCC0AA9-CEF9-BFEF-7486-F4535273D614}"/>
              </a:ext>
            </a:extLst>
          </p:cNvPr>
          <p:cNvCxnSpPr>
            <a:cxnSpLocks/>
          </p:cNvCxnSpPr>
          <p:nvPr/>
        </p:nvCxnSpPr>
        <p:spPr>
          <a:xfrm>
            <a:off x="3462830" y="4416908"/>
            <a:ext cx="5324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6D92B1-37BA-E520-8C40-A2E0A7D68D8F}"/>
              </a:ext>
            </a:extLst>
          </p:cNvPr>
          <p:cNvSpPr txBox="1"/>
          <p:nvPr/>
        </p:nvSpPr>
        <p:spPr>
          <a:xfrm>
            <a:off x="2746327" y="1451252"/>
            <a:ext cx="69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209E0-701B-FF11-0019-614EF66A9FC9}"/>
              </a:ext>
            </a:extLst>
          </p:cNvPr>
          <p:cNvSpPr txBox="1"/>
          <p:nvPr/>
        </p:nvSpPr>
        <p:spPr>
          <a:xfrm>
            <a:off x="2746327" y="2671392"/>
            <a:ext cx="69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35E3E3-275D-DAE5-46D2-899848A24EDE}"/>
              </a:ext>
            </a:extLst>
          </p:cNvPr>
          <p:cNvSpPr txBox="1"/>
          <p:nvPr/>
        </p:nvSpPr>
        <p:spPr>
          <a:xfrm>
            <a:off x="2769113" y="4114195"/>
            <a:ext cx="69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0D510D5-3D21-EA8B-95C2-357BFCFB55C2}"/>
              </a:ext>
            </a:extLst>
          </p:cNvPr>
          <p:cNvCxnSpPr>
            <a:cxnSpLocks/>
          </p:cNvCxnSpPr>
          <p:nvPr/>
        </p:nvCxnSpPr>
        <p:spPr>
          <a:xfrm>
            <a:off x="5159363" y="3038906"/>
            <a:ext cx="1265682" cy="137800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44D3F3D-2740-3C7E-CD65-40C2C4EA22FE}"/>
              </a:ext>
            </a:extLst>
          </p:cNvPr>
          <p:cNvCxnSpPr>
            <a:cxnSpLocks/>
          </p:cNvCxnSpPr>
          <p:nvPr/>
        </p:nvCxnSpPr>
        <p:spPr>
          <a:xfrm>
            <a:off x="4023316" y="1753965"/>
            <a:ext cx="1119621" cy="1193191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18445B8-FEB5-362B-C223-E4628DD55968}"/>
              </a:ext>
            </a:extLst>
          </p:cNvPr>
          <p:cNvSpPr txBox="1"/>
          <p:nvPr/>
        </p:nvSpPr>
        <p:spPr>
          <a:xfrm>
            <a:off x="244474" y="5201535"/>
            <a:ext cx="5522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플레이어 입력 데이터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플로우에 대한 이벤트 발생 유예시간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FT_n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다른 플로우의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A_n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도달시간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A65EEF-0045-6563-913C-33433E43534D}"/>
              </a:ext>
            </a:extLst>
          </p:cNvPr>
          <p:cNvSpPr txBox="1"/>
          <p:nvPr/>
        </p:nvSpPr>
        <p:spPr>
          <a:xfrm>
            <a:off x="5471982" y="2400440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11DA69-BC46-B247-D8B4-E537C23411C3}"/>
              </a:ext>
            </a:extLst>
          </p:cNvPr>
          <p:cNvSpPr txBox="1"/>
          <p:nvPr/>
        </p:nvSpPr>
        <p:spPr>
          <a:xfrm>
            <a:off x="3676134" y="1251199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93AC364-FE1C-0206-99C3-585FCD214B92}"/>
              </a:ext>
            </a:extLst>
          </p:cNvPr>
          <p:cNvSpPr/>
          <p:nvPr/>
        </p:nvSpPr>
        <p:spPr>
          <a:xfrm>
            <a:off x="5159363" y="2865350"/>
            <a:ext cx="1560652" cy="237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229DA92-B06E-2DB3-C7F1-BF0EC50B7A78}"/>
              </a:ext>
            </a:extLst>
          </p:cNvPr>
          <p:cNvCxnSpPr>
            <a:cxnSpLocks/>
          </p:cNvCxnSpPr>
          <p:nvPr/>
        </p:nvCxnSpPr>
        <p:spPr>
          <a:xfrm>
            <a:off x="6425045" y="2400440"/>
            <a:ext cx="0" cy="280109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AE2AF6D-8302-05CE-5E51-79EF91B04098}"/>
              </a:ext>
            </a:extLst>
          </p:cNvPr>
          <p:cNvSpPr txBox="1"/>
          <p:nvPr/>
        </p:nvSpPr>
        <p:spPr>
          <a:xfrm>
            <a:off x="6505363" y="4431760"/>
            <a:ext cx="1248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FT_1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4399D2-D9B4-5D9D-C6ED-1D6414C7EF6E}"/>
              </a:ext>
            </a:extLst>
          </p:cNvPr>
          <p:cNvSpPr txBox="1"/>
          <p:nvPr/>
        </p:nvSpPr>
        <p:spPr>
          <a:xfrm>
            <a:off x="9387261" y="5201535"/>
            <a:ext cx="21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T_1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길이 조절 부분을 더 생각해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봐야함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921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DFFE-10F6-619D-442D-AAE72DEB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83D5B2-5E55-5100-1A5E-1EDC16A3B3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en-US" altLang="ko-KR" dirty="0" err="1"/>
              <a:t>FoS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62CAD9E-8CDD-F7E5-827D-E87141C120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F8AA7B-C975-4676-4A15-EDF9DD7ED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87" y="999835"/>
            <a:ext cx="5784646" cy="56299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726ED01-1BCF-5A4F-F046-9CA863485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74" y="999835"/>
            <a:ext cx="4611639" cy="564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0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6E09-82D9-BED6-46C5-B8FA9D34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702A6B-7031-3D6E-8069-1863A77C0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en-US" altLang="ko-KR" dirty="0" err="1"/>
              <a:t>FoS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9B8FDAE-1C3C-03E9-F96B-2B3C9E4066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35B209-4679-61FF-88F4-2B8BB836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669" y="1043720"/>
            <a:ext cx="7533597" cy="563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7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51B0-D5EE-6692-CF1D-2946CC27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9C1667-D22D-F13C-DB5F-6875E457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8C385F-380B-4B93-B936-E59668A5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305B73-74F1-A10F-8A27-0766E52FCE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서버 </a:t>
            </a:r>
            <a:r>
              <a:rPr lang="en-US" altLang="ko-KR" dirty="0"/>
              <a:t>&lt;-&gt; </a:t>
            </a:r>
            <a:r>
              <a:rPr lang="ko-KR" altLang="en-US" dirty="0"/>
              <a:t>클라이언트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78E7314-FDA3-CD26-7C33-04ADB91283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258C5-5EAA-CD81-347F-92292EB46FB8}"/>
              </a:ext>
            </a:extLst>
          </p:cNvPr>
          <p:cNvSpPr txBox="1"/>
          <p:nvPr/>
        </p:nvSpPr>
        <p:spPr>
          <a:xfrm>
            <a:off x="424873" y="1163782"/>
            <a:ext cx="1152265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혼잡 데이터 보장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(Application)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혼잡 상황에서 혼잡 기기가 더 많은 기회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리소스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보장하도록 하기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추후 본 논문에서는 혼잡 기기 선출 공식에 단순히 혼잡 상황 뿐만 아니라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플랫폼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성능 관련 가중치를 부여할 예정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또한 혼잡 기기 뿐만 아니라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비혼잡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기기도 혼잡 기기의 더 많은 리소스 보장으로 인한 문제가 생길 수 있으므로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비혼잡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기기도 고려해 공식을 적용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13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B655E-2BA4-C5D8-6979-33D048D2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FE8463-867D-7111-B8A5-F2FF1D4C5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15326B-0611-D986-D912-1E688A56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F5CBB8-FF41-6AC4-91D0-0D252CDE0B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Method 3 : </a:t>
            </a:r>
            <a:r>
              <a:rPr lang="ko-KR" altLang="en-US" dirty="0"/>
              <a:t>서버 </a:t>
            </a:r>
            <a:r>
              <a:rPr lang="en-US" altLang="ko-KR" dirty="0"/>
              <a:t>&lt;-&gt; </a:t>
            </a:r>
            <a:r>
              <a:rPr lang="ko-KR" altLang="en-US" dirty="0"/>
              <a:t>클라이언트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57E28D1-65FC-9CD7-E649-B2DB8555EE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E3BB7E-B222-BE1D-E1CB-956149AE3347}"/>
                  </a:ext>
                </a:extLst>
              </p:cNvPr>
              <p:cNvSpPr txBox="1"/>
              <p:nvPr/>
            </p:nvSpPr>
            <p:spPr>
              <a:xfrm>
                <a:off x="424873" y="1163782"/>
                <a:ext cx="11522652" cy="4339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𝐶</m:t>
                    </m:r>
                    <m:sSub>
                      <m:sSub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𝐼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𝑓</m:t>
                        </m:r>
                      </m:sub>
                    </m:sSub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 </m:t>
                    </m:r>
                    <m:f>
                      <m:f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𝑡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𝑓</m:t>
                                    </m:r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,</m:t>
                                    </m:r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  <m: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𝑡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𝐹𝑅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𝑓</m:t>
                                    </m:r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,</m:t>
                                    </m:r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r>
                          <a:rPr lang="en-US" altLang="ko-KR" sz="28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−1</m:t>
                            </m:r>
                            <m:r>
                              <a:rPr lang="en-US" altLang="ko-KR" sz="28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sub>
                        </m:sSub>
                      </m:den>
                    </m:f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 </m:t>
                    </m:r>
                    <m:f>
                      <m:f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,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𝐹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−1)</m:t>
                            </m:r>
                          </m:e>
                        </m:acc>
                      </m:den>
                    </m:f>
                  </m:oMath>
                </a14:m>
                <a:endParaRPr lang="en-US" altLang="ko-KR" sz="28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:endParaRPr lang="en-US" altLang="ko-KR" sz="2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𝐵𝑢𝑟𝑠</m:t>
                    </m:r>
                    <m:sSub>
                      <m:sSub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𝑓</m:t>
                        </m:r>
                      </m:sub>
                    </m:sSub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eqArr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𝐵𝑢𝑟𝑠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𝑖𝑓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   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𝐵𝑢𝑟𝑠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 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𝑖𝑓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   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endParaRPr lang="en-US" altLang="ko-KR" sz="2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:endParaRPr lang="en-US" altLang="ko-KR" sz="2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28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𝐵𝑢𝑟𝑠</m:t>
                    </m:r>
                    <m:sSub>
                      <m:sSub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8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𝑒</m:t>
                        </m:r>
                      </m:sub>
                    </m:sSub>
                    <m:r>
                      <a:rPr lang="en-US" altLang="ko-KR" sz="28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sz="28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1+ </m:t>
                        </m:r>
                        <m:f>
                          <m:f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fPr>
                          <m:num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 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𝑀𝑎𝑥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(2,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𝑓</m:t>
                            </m:r>
                          </m:sub>
                        </m:s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)</m:t>
                        </m:r>
                      </m:e>
                    </m:d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 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𝐵𝑢𝑟𝑠</m:t>
                    </m:r>
                    <m:sSub>
                      <m:sSub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altLang="ko-KR" sz="2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E3BB7E-B222-BE1D-E1CB-956149AE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73" y="1163782"/>
                <a:ext cx="11522652" cy="4339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278912A-8C21-4C45-4760-32E13051AACE}"/>
              </a:ext>
            </a:extLst>
          </p:cNvPr>
          <p:cNvSpPr txBox="1"/>
          <p:nvPr/>
        </p:nvSpPr>
        <p:spPr>
          <a:xfrm>
            <a:off x="7543199" y="1374741"/>
            <a:ext cx="45952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CI_f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혼잡 인덱스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Q_f,I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간격때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평균 큐 길이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패킷 수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FR_f,I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간격 때 초당 패킷 플로우 속도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패킷 수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강조는 처음부터 지금까지 평균을 의미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T_b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측정 시간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T_b-1 =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직전 측정 시간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N_c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>
                <a:latin typeface="나눔스퀘어" panose="020B0600000101010101" pitchFamily="50" charset="-127"/>
                <a:ea typeface="나눔스퀘어" panose="020B0600000101010101" pitchFamily="50" charset="-127"/>
              </a:rPr>
              <a:t>혼잡 플로우 수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/>
              <a:t>N_t</a:t>
            </a:r>
            <a:r>
              <a:rPr lang="en-US" altLang="ko-KR" dirty="0"/>
              <a:t> = </a:t>
            </a:r>
            <a:r>
              <a:rPr lang="ko-KR" altLang="en-US" dirty="0"/>
              <a:t>현재까지 측정 실행 횟수 </a:t>
            </a:r>
            <a:endParaRPr lang="en-US" altLang="ko-KR" dirty="0"/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8293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6773D-6B2B-05C9-6735-EBA8D358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89692E-A09C-1CE5-6AD6-BDC5AC46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AA78-1667-4086-B2EC-FAAE320E7366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AAEEFC-1862-3767-D45B-6FBCDFCF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B08BE-9E47-4B07-B29C-AE0B473C32D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D52A12-5366-8539-4B55-F1EAD46106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TODO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9605D53-64C9-26C4-53DF-7ED862CCB9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37001-9DDE-53D8-6D9D-8494AB72DE49}"/>
              </a:ext>
            </a:extLst>
          </p:cNvPr>
          <p:cNvSpPr txBox="1"/>
          <p:nvPr/>
        </p:nvSpPr>
        <p:spPr>
          <a:xfrm>
            <a:off x="424873" y="1163782"/>
            <a:ext cx="115226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관련 연구 보면서 메소드 보완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메소드에 맞는 시나리오 설계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평가 지표 게임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QoE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관련해서 찾아보기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761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22632</TotalTime>
  <Words>1073</Words>
  <Application>Microsoft Office PowerPoint</Application>
  <PresentationFormat>와이드스크린</PresentationFormat>
  <Paragraphs>194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나눔스퀘어</vt:lpstr>
      <vt:lpstr>Cambria Math</vt:lpstr>
      <vt:lpstr>Arial</vt:lpstr>
      <vt:lpstr>나눔고딕 ExtraBold</vt:lpstr>
      <vt:lpstr>맑은 고딕</vt:lpstr>
      <vt:lpstr>나눔고딕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황윤신</cp:lastModifiedBy>
  <cp:revision>3272</cp:revision>
  <dcterms:created xsi:type="dcterms:W3CDTF">2022-01-04T14:56:28Z</dcterms:created>
  <dcterms:modified xsi:type="dcterms:W3CDTF">2026-01-15T01:42:10Z</dcterms:modified>
  <cp:version/>
</cp:coreProperties>
</file>